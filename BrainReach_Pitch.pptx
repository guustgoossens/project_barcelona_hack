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AED2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Outreach is broken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58087" y="2926080"/>
            <a:ext cx="2926080" cy="1645920"/>
          </a:xfrm>
          <a:prstGeom prst="roundRect">
            <a:avLst>
              <a:gd name="adj" fmla="val 8000"/>
            </a:avLst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8087" y="32004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3A8A"/>
                </a:solidFill>
                <a:latin typeface="Arial"/>
              </a:defRPr>
            </a:pPr>
            <a:r>
              <a:t>10x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087" y="4754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more outreach in inboxes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087" y="5212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3AED2"/>
                </a:solidFill>
                <a:latin typeface="Arial"/>
              </a:defRPr>
            </a:pPr>
            <a:r>
              <a:t>Instantly Benchmark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2807" y="2926080"/>
            <a:ext cx="2926080" cy="1645920"/>
          </a:xfrm>
          <a:prstGeom prst="roundRect">
            <a:avLst>
              <a:gd name="adj" fmla="val 8000"/>
            </a:avLst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2807" y="32004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3A8A"/>
                </a:solidFill>
                <a:latin typeface="Arial"/>
              </a:defRPr>
            </a:pPr>
            <a:r>
              <a:t>69%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807" y="4754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judge on first impression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807" y="5212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3AED2"/>
                </a:solidFill>
                <a:latin typeface="Arial"/>
              </a:defRPr>
            </a:pPr>
            <a:r>
              <a:t>Smartlead Cold Email Stats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527" y="2926080"/>
            <a:ext cx="2926080" cy="1645920"/>
          </a:xfrm>
          <a:prstGeom prst="roundRect">
            <a:avLst>
              <a:gd name="adj" fmla="val 8000"/>
            </a:avLst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7527" y="32004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3A8A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7527" y="4754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simulate before sending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7527" y="5212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3AED2"/>
                </a:solidFill>
                <a:latin typeface="Arial"/>
              </a:defRPr>
            </a:pPr>
            <a:r>
              <a:t>Industry 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97316"/>
                </a:solidFill>
                <a:latin typeface="Arial"/>
              </a:defRPr>
            </a:pPr>
            <a:r>
              <a:t>BrainReach  |  Brain-scored outreach powered by Clay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AED2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Simulate the brain before you hit send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58087" y="2926080"/>
            <a:ext cx="2926080" cy="1645920"/>
          </a:xfrm>
          <a:prstGeom prst="roundRect">
            <a:avLst>
              <a:gd name="adj" fmla="val 8000"/>
            </a:avLst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8087" y="32004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5403C"/>
                </a:solidFill>
                <a:latin typeface="Arial"/>
              </a:defRPr>
            </a:pPr>
            <a:r>
              <a:t>5s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087" y="4754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brain score per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087" y="5212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3AED2"/>
                </a:solidFill>
                <a:latin typeface="Arial"/>
              </a:defRPr>
            </a:pPr>
            <a:r>
              <a:t>B200 GPU inference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2807" y="2926080"/>
            <a:ext cx="2926080" cy="1645920"/>
          </a:xfrm>
          <a:prstGeom prst="roundRect">
            <a:avLst>
              <a:gd name="adj" fmla="val 8000"/>
            </a:avLst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2807" y="32004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5403C"/>
                </a:solidFill>
                <a:latin typeface="Arial"/>
              </a:defRPr>
            </a:pPr>
            <a:r>
              <a:t>x3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807" y="4754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engagement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807" y="5212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3AED2"/>
                </a:solidFill>
                <a:latin typeface="Arial"/>
              </a:defRPr>
            </a:pPr>
            <a:r>
              <a:t>Backlinko 12M emails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527" y="2926080"/>
            <a:ext cx="2926080" cy="1645920"/>
          </a:xfrm>
          <a:prstGeom prst="roundRect">
            <a:avLst>
              <a:gd name="adj" fmla="val 8000"/>
            </a:avLst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7527" y="32004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5403C"/>
                </a:solidFill>
                <a:latin typeface="Arial"/>
              </a:defRPr>
            </a:pPr>
            <a:r>
              <a:t>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7527" y="4754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compound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7527" y="5212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3AED2"/>
                </a:solidFill>
                <a:latin typeface="Arial"/>
              </a:defRPr>
            </a:pPr>
            <a:r>
              <a:t>AI + human lessons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Don't spray and pray.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97316"/>
                </a:solidFill>
                <a:latin typeface="Arial"/>
              </a:defRPr>
            </a:pPr>
            <a:r>
              <a:t>Spray and Clay.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AED2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BrainReach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2287" y="2560320"/>
            <a:ext cx="2194560" cy="128016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287" y="2788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Clay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287" y="3246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Leads + OCEAN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12567" y="2834639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07D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9807" y="2560320"/>
            <a:ext cx="2194560" cy="1280160"/>
          </a:xfrm>
          <a:prstGeom prst="roundRect">
            <a:avLst>
              <a:gd name="adj" fmla="val 10000"/>
            </a:avLst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89807" y="2788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Claude 4.6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9807" y="3246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Variants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0087" y="2834639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07D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07327" y="2560320"/>
            <a:ext cx="2194560" cy="1280160"/>
          </a:xfrm>
          <a:prstGeom prst="roundRect">
            <a:avLst>
              <a:gd name="adj" fmla="val 10000"/>
            </a:avLst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TRIBE 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3246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Brain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7607" y="2834639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07D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24847" y="2560320"/>
            <a:ext cx="2194560" cy="128016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24847" y="2788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BrainReach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847" y="3246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Iterate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4389120"/>
            <a:ext cx="2011680" cy="640080"/>
          </a:xfrm>
          <a:prstGeom prst="roundRect">
            <a:avLst>
              <a:gd name="adj" fmla="val 15000"/>
            </a:avLst>
          </a:prstGeom>
          <a:solidFill>
            <a:srgbClr val="1B336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34639" y="4590288"/>
            <a:ext cx="164592" cy="16459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39" y="448055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Human teaches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438912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7DB8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9" y="4389120"/>
            <a:ext cx="2011680" cy="640080"/>
          </a:xfrm>
          <a:prstGeom prst="roundRect">
            <a:avLst>
              <a:gd name="adj" fmla="val 15000"/>
            </a:avLst>
          </a:prstGeom>
          <a:solidFill>
            <a:srgbClr val="1B336B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486399" y="4590288"/>
            <a:ext cx="164592" cy="16459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4999" y="448055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AI learns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38912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7DB8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4389120"/>
            <a:ext cx="2011680" cy="640080"/>
          </a:xfrm>
          <a:prstGeom prst="roundRect">
            <a:avLst>
              <a:gd name="adj" fmla="val 15000"/>
            </a:avLst>
          </a:prstGeom>
          <a:solidFill>
            <a:srgbClr val="1B336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38160" y="459028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448055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Compound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7DB8"/>
                </a:solidFill>
                <a:latin typeface="Arial"/>
              </a:defRPr>
            </a:pPr>
            <a:r>
              <a:t>Meta TRIBE v2   ·   Anthropic Claude   ·   NVIDIA B200   ·   Convex   ·   Clay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5E85"/>
                </a:solidFill>
                <a:latin typeface="Arial"/>
              </a:defRPr>
            </a:pPr>
            <a:r>
              <a:t>Sources: Instantly 2026 · Smartlead · Backlinko 12M emails · Woodpecker 20M emails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