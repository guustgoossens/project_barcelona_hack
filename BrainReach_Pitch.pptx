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3AED2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Outreach is broken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58087" y="2926080"/>
            <a:ext cx="2926080" cy="1645920"/>
          </a:xfrm>
          <a:prstGeom prst="roundRect">
            <a:avLst>
              <a:gd name="adj" fmla="val 8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8087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E3A8A"/>
                </a:solidFill>
                <a:latin typeface="Arial"/>
              </a:defRPr>
            </a:pPr>
            <a:r>
              <a:t>10x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4754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more outreach in inboxes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5212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AED2"/>
                </a:solidFill>
                <a:latin typeface="Arial"/>
              </a:defRPr>
            </a:pPr>
            <a:r>
              <a:t>Instantly Benchmark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2807" y="2926080"/>
            <a:ext cx="2926080" cy="1645920"/>
          </a:xfrm>
          <a:prstGeom prst="roundRect">
            <a:avLst>
              <a:gd name="adj" fmla="val 8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2807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E3A8A"/>
                </a:solidFill>
                <a:latin typeface="Arial"/>
              </a:defRPr>
            </a:pPr>
            <a:r>
              <a:t>69%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2807" y="4754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judge on first impression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807" y="5212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AED2"/>
                </a:solidFill>
                <a:latin typeface="Arial"/>
              </a:defRPr>
            </a:pPr>
            <a:r>
              <a:t>Smartlead Cold Email Stats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7527" y="2926080"/>
            <a:ext cx="2926080" cy="1645920"/>
          </a:xfrm>
          <a:prstGeom prst="roundRect">
            <a:avLst>
              <a:gd name="adj" fmla="val 8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07527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E3A8A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7527" y="4754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simulate before sending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7527" y="5212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AED2"/>
                </a:solidFill>
                <a:latin typeface="Arial"/>
              </a:defRPr>
            </a:pPr>
            <a:r>
              <a:t>Industry standard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97316"/>
                </a:solidFill>
                <a:latin typeface="Arial"/>
              </a:defRPr>
            </a:pPr>
            <a:r>
              <a:t>BrainReach  |  Brain-scored outreach powered by Clay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3AED2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Simulate the brain before you hit send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58087" y="2926080"/>
            <a:ext cx="2926080" cy="1645920"/>
          </a:xfrm>
          <a:prstGeom prst="roundRect">
            <a:avLst>
              <a:gd name="adj" fmla="val 8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8087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5403C"/>
                </a:solidFill>
                <a:latin typeface="Arial"/>
              </a:defRPr>
            </a:pPr>
            <a:r>
              <a:t>5s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4754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brain score per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5212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AED2"/>
                </a:solidFill>
                <a:latin typeface="Arial"/>
              </a:defRPr>
            </a:pPr>
            <a:r>
              <a:t>B200 GPU 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2807" y="2926080"/>
            <a:ext cx="2926080" cy="1645920"/>
          </a:xfrm>
          <a:prstGeom prst="roundRect">
            <a:avLst>
              <a:gd name="adj" fmla="val 8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2807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5403C"/>
                </a:solidFill>
                <a:latin typeface="Arial"/>
              </a:defRPr>
            </a:pPr>
            <a:r>
              <a:t>x3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2807" y="4754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engagement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807" y="5212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AED2"/>
                </a:solidFill>
                <a:latin typeface="Arial"/>
              </a:defRPr>
            </a:pPr>
            <a:r>
              <a:t>Backlinko 12M emails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7527" y="2926080"/>
            <a:ext cx="2926080" cy="1645920"/>
          </a:xfrm>
          <a:prstGeom prst="roundRect">
            <a:avLst>
              <a:gd name="adj" fmla="val 8000"/>
            </a:avLst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07527" y="32004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5403C"/>
                </a:solidFill>
                <a:latin typeface="Arial"/>
              </a:defRPr>
            </a:pPr>
            <a:r>
              <a:t>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7527" y="4754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compound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7527" y="5212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AED2"/>
                </a:solidFill>
                <a:latin typeface="Arial"/>
              </a:defRPr>
            </a:pPr>
            <a:r>
              <a:t>AI + human lessons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Don't spray and pray.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97316"/>
                </a:solidFill>
                <a:latin typeface="Arial"/>
              </a:defRPr>
            </a:pPr>
            <a:r>
              <a:t>Spray and Clay.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3AED2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BrainReach — Full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3AED2"/>
                </a:solidFill>
                <a:latin typeface="Arial"/>
              </a:defRPr>
            </a:pPr>
            <a: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60804"/>
            <a:ext cx="182880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Leads + OCEAN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965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73736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860804"/>
            <a:ext cx="201168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Claude Sonnet 4.6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1488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Generate + optimize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65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737360"/>
            <a:ext cx="2377440" cy="82296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860804"/>
            <a:ext cx="237744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BrainReach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14884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Tree · Brain 3D · Scores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965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173736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860804"/>
            <a:ext cx="182880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Send via Clay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1488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Outreach delivery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98480" y="1737360"/>
            <a:ext cx="1097280" cy="822960"/>
          </a:xfrm>
          <a:prstGeom prst="roundRect">
            <a:avLst>
              <a:gd name="adj" fmla="val 12000"/>
            </a:avLst>
          </a:prstGeom>
          <a:solidFill>
            <a:srgbClr val="1B336B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0" y="1860804"/>
            <a:ext cx="109728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Convex</a:t>
            </a:r>
            <a:br/>
            <a:r>
              <a:t>Realtime 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834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3AED2"/>
                </a:solidFill>
                <a:latin typeface="Arial"/>
              </a:defRPr>
            </a:pPr>
            <a:r>
              <a:t>TRIBE v2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00400"/>
            <a:ext cx="1828800" cy="7772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316986"/>
            <a:ext cx="182880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LLaMA 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58902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Text encoder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200400"/>
            <a:ext cx="1828800" cy="7772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3316986"/>
            <a:ext cx="182880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Wav2Vec-BERT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58902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Audio encoder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3200400"/>
            <a:ext cx="1828800" cy="7772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3316986"/>
            <a:ext cx="182880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V-JEPA2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3589020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Video encoder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0" y="3200400"/>
            <a:ext cx="2011680" cy="777240"/>
          </a:xfrm>
          <a:prstGeom prst="roundRect">
            <a:avLst>
              <a:gd name="adj" fmla="val 1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0" y="3316986"/>
            <a:ext cx="201168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TRIBE v2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3589020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Brain encoder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92640" y="320040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0" y="3316986"/>
            <a:ext cx="2103120" cy="349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20,484 vertices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58902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(T, 20484) activations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206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3AED2"/>
                </a:solidFill>
                <a:latin typeface="Arial"/>
              </a:defRPr>
            </a:pPr>
            <a:r>
              <a:t>SCORING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4526280"/>
            <a:ext cx="2011680" cy="685800"/>
          </a:xfrm>
          <a:prstGeom prst="roundRect">
            <a:avLst>
              <a:gd name="adj" fmla="val 1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629150"/>
            <a:ext cx="201168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Destrieux Atlas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8691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ROI extraction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4663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0" y="4526280"/>
            <a:ext cx="1234440" cy="68580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0" y="4629150"/>
            <a:ext cx="12344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Attention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91840" y="48691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Parietal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4526280"/>
            <a:ext cx="1234440" cy="68580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629150"/>
            <a:ext cx="12344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Curiosity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48691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Ant. cingulate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0" y="4526280"/>
            <a:ext cx="1234440" cy="68580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0" y="4629150"/>
            <a:ext cx="12344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Trust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48691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TPJ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69480" y="4526280"/>
            <a:ext cx="1234440" cy="68580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69480" y="4629150"/>
            <a:ext cx="12344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Motivation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69480" y="48691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vmPFC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595360" y="4526280"/>
            <a:ext cx="1234440" cy="685800"/>
          </a:xfrm>
          <a:prstGeom prst="roundRect">
            <a:avLst>
              <a:gd name="adj" fmla="val 15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5360" y="4629150"/>
            <a:ext cx="12344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Resistance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95360" y="48691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Insula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663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287000" y="4526280"/>
            <a:ext cx="1463040" cy="685800"/>
          </a:xfrm>
          <a:prstGeom prst="roundRect">
            <a:avLst>
              <a:gd name="adj" fmla="val 1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4629150"/>
            <a:ext cx="14630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Kahneman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87000" y="48691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Peak-end rule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5440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3AED2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1520" y="5760720"/>
            <a:ext cx="2011680" cy="594360"/>
          </a:xfrm>
          <a:prstGeom prst="roundRect">
            <a:avLst>
              <a:gd name="adj" fmla="val 10000"/>
            </a:avLst>
          </a:prstGeom>
          <a:solidFill>
            <a:srgbClr val="47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5879592"/>
            <a:ext cx="20116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CoreWeave Cloud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34640" y="58521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00400" y="5760720"/>
            <a:ext cx="2286000" cy="594360"/>
          </a:xfrm>
          <a:prstGeom prst="roundRect">
            <a:avLst>
              <a:gd name="adj" fmla="val 10000"/>
            </a:avLst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0400" y="5849874"/>
            <a:ext cx="2286000" cy="267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NVIDIA B200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05790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180 GB VRAM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58521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43600" y="5760720"/>
            <a:ext cx="1828800" cy="594360"/>
          </a:xfrm>
          <a:prstGeom prst="roundRect">
            <a:avLst>
              <a:gd name="adj" fmla="val 10000"/>
            </a:avLst>
          </a:prstGeom>
          <a:solidFill>
            <a:srgbClr val="47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0" y="5849874"/>
            <a:ext cx="1828800" cy="267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Northflank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43600" y="605790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Container service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58521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07DB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229600" y="5760720"/>
            <a:ext cx="1828800" cy="594360"/>
          </a:xfrm>
          <a:prstGeom prst="roundRect">
            <a:avLst>
              <a:gd name="adj" fmla="val 10000"/>
            </a:avLst>
          </a:prstGeom>
          <a:solidFill>
            <a:srgbClr val="47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29600" y="5849874"/>
            <a:ext cx="1828800" cy="267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FastAPI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605790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/predict endpoint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32720" y="5715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93AED2"/>
                </a:solidFill>
                <a:latin typeface="Arial"/>
              </a:defRPr>
            </a:pPr>
            <a:r>
              <a:t>LEARNING LOOP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332720" y="5989320"/>
            <a:ext cx="1463040" cy="365760"/>
          </a:xfrm>
          <a:prstGeom prst="roundRect">
            <a:avLst>
              <a:gd name="adj" fmla="val 12000"/>
            </a:avLst>
          </a:prstGeom>
          <a:solidFill>
            <a:srgbClr val="1B336B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332720" y="6044183"/>
            <a:ext cx="1463040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Human ↔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